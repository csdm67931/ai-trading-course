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2926080" cy="347472"/>
          </a:xfrm>
          <a:prstGeom prst="roundRect">
            <a:avLst>
              <a:gd name="adj" fmla="val 2105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輔助交易工具課程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5C8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第一堂課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工具開箱與環境建置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5029200" cy="0"/>
          </a:xfrm>
          <a:prstGeom prst="line">
            <a:avLst/>
          </a:prstGeom>
          <a:noFill/>
          <a:ln w="15240">
            <a:solidFill>
              <a:srgbClr val="2E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88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6B0"/>
                </a:solidFill>
              </a:rPr>
              <a:t>群益期貨  ·  大學生 AI 應用課程  ·  共 3 堂 × 3 小時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0" y="4206240"/>
            <a:ext cx="1078992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420624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Gemini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39712" y="4206240"/>
            <a:ext cx="1078992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39712" y="420624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Github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10144" y="4206240"/>
            <a:ext cx="1078992" cy="384048"/>
          </a:xfrm>
          <a:prstGeom prst="roundRect">
            <a:avLst>
              <a:gd name="adj" fmla="val 14286"/>
            </a:avLst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10144" y="420624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7"/>
                </a:solidFill>
              </a:rPr>
              <a:t>Antigravity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今天結束前，你會完成這三件事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517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25400" dir="8100000">
              <a:srgbClr val="8896B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26517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37160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4630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240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Gem 建立完成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8346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預載 Prompt 套入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可以直接問盤勢問題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00400" y="1143000"/>
            <a:ext cx="26517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25400" dir="8100000">
              <a:srgbClr val="8896B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143000"/>
            <a:ext cx="265176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60520" y="1371600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46304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37560" y="2240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建立完成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337560" y="28346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ai-trading-journal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寫下第一筆 AI 對話紀錄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080760" y="1143000"/>
            <a:ext cx="26517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E"/>
            </a:solidFill>
            <a:prstDash val="solid"/>
          </a:ln>
          <a:effectLst>
            <a:outerShdw sx="100000" sy="100000" kx="0" ky="0" algn="bl" rotWithShape="0" blurRad="101600" dist="25400" dir="8100000">
              <a:srgbClr val="8896B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80760" y="1143000"/>
            <a:ext cx="265176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040880" y="1371600"/>
            <a:ext cx="731520" cy="7315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46304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7920" y="22402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 AI 交易主題確定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217920" y="28346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說清楚你想讓 AI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幫你做什麼事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6B0"/>
                </a:solidFill>
              </a:rPr>
              <a:t>未完成的同學：第二堂課前 10 分鐘補做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C8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課堂時間表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73152" cy="658368"/>
          </a:xfrm>
          <a:prstGeom prst="rect">
            <a:avLst/>
          </a:prstGeom>
          <a:solidFill>
            <a:srgbClr val="2E3A5C"/>
          </a:solidFill>
          <a:ln w="12700">
            <a:solidFill>
              <a:srgbClr val="2E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solidFill>
            <a:srgbClr val="1B2550">
              <a:alpha val="90000"/>
            </a:srgbClr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00:00 — 00:30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31720" y="1060704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2E3A5C"/>
          </a:solidFill>
          <a:ln w="12700">
            <a:solidFill>
              <a:srgbClr val="2E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31720" y="106070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開場破冰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60520" y="914400"/>
            <a:ext cx="4389120" cy="6583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vs Gemini 現場比較示範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73152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19072"/>
            <a:ext cx="8229600" cy="658368"/>
          </a:xfrm>
          <a:prstGeom prst="rect">
            <a:avLst/>
          </a:prstGeom>
          <a:solidFill>
            <a:srgbClr val="1B2550">
              <a:alpha val="90000"/>
            </a:srgbClr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719072"/>
            <a:ext cx="1737360" cy="6583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00:30 — 01:15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331720" y="1865376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186537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Gemini 環境設定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60520" y="1719072"/>
            <a:ext cx="4389120" cy="6583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帳號 → 預載 Prompt → Gem 建立 → 首次提問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523744"/>
            <a:ext cx="73152" cy="658368"/>
          </a:xfrm>
          <a:prstGeom prst="rect">
            <a:avLst/>
          </a:prstGeom>
          <a:solidFill>
            <a:srgbClr val="3B5BAD"/>
          </a:solidFill>
          <a:ln w="12700">
            <a:solidFill>
              <a:srgbClr val="3B5BA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523744"/>
            <a:ext cx="8229600" cy="658368"/>
          </a:xfrm>
          <a:prstGeom prst="rect">
            <a:avLst/>
          </a:prstGeom>
          <a:solidFill>
            <a:srgbClr val="1B2550">
              <a:alpha val="90000"/>
            </a:srgbClr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523744"/>
            <a:ext cx="1737360" cy="6583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01:15 — 01:45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31720" y="2670048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3B5BAD"/>
          </a:solidFill>
          <a:ln w="12700">
            <a:solidFill>
              <a:srgbClr val="3B5B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31720" y="26700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Github 申辦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60520" y="2523744"/>
            <a:ext cx="4389120" cy="6583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帳號申辦 → 建立 repo → 寫 README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328416"/>
            <a:ext cx="73152" cy="65836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328416"/>
            <a:ext cx="8229600" cy="658368"/>
          </a:xfrm>
          <a:prstGeom prst="rect">
            <a:avLst/>
          </a:prstGeom>
          <a:solidFill>
            <a:srgbClr val="1B2550">
              <a:alpha val="90000"/>
            </a:srgbClr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328416"/>
            <a:ext cx="1737360" cy="6583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01:45 — 02:30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331720" y="3474720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31720" y="3474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Antigravity 示範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60520" y="3328416"/>
            <a:ext cx="4389120" cy="6583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概念示範 + 跟做基本工作流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133088"/>
            <a:ext cx="73152" cy="658368"/>
          </a:xfrm>
          <a:prstGeom prst="rect">
            <a:avLst/>
          </a:prstGeom>
          <a:solidFill>
            <a:srgbClr val="6D4C9F"/>
          </a:solidFill>
          <a:ln w="12700">
            <a:solidFill>
              <a:srgbClr val="6D4C9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133088"/>
            <a:ext cx="8229600" cy="658368"/>
          </a:xfrm>
          <a:prstGeom prst="rect">
            <a:avLst/>
          </a:prstGeom>
          <a:solidFill>
            <a:srgbClr val="1B2550">
              <a:alpha val="90000"/>
            </a:srgbClr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133088"/>
            <a:ext cx="1737360" cy="6583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02:30 — 03:00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331720" y="4279392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6D4C9F"/>
          </a:solidFill>
          <a:ln w="12700">
            <a:solidFill>
              <a:srgbClr val="6D4C9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31720" y="42793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個人主題定題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160520" y="4133088"/>
            <a:ext cx="4389120" cy="6583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說明你的 AI 交易主題，寫入 Github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Gemini 環境設定  ·  00:30 — 01:15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0690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E"/>
            </a:solidFill>
            <a:prstDash val="solid"/>
          </a:ln>
          <a:effectLst>
            <a:outerShdw sx="100000" sy="100000" kx="0" ky="0" algn="bl" rotWithShape="0" blurRad="76200" dist="25400" dir="8100000">
              <a:srgbClr val="8896B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61872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3272" y="1234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 Google 帳號登入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374904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前往 gemini.google.com</a:t>
            </a:r>
            <a:endParaRPr lang="en-US" sz="1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右上角顯示學校帳號</a:t>
            </a:r>
            <a:endParaRPr lang="en-US" sz="1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看到 Gemini Advanced 字樣即可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40690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E"/>
            </a:solidFill>
            <a:prstDash val="solid"/>
          </a:ln>
          <a:effectLst>
            <a:outerShdw sx="100000" sy="100000" kx="0" ky="0" algn="bl" rotWithShape="0" blurRad="76200" dist="25400" dir="8100000">
              <a:srgbClr val="8896B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61872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22392" y="1234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貼入預載 Prompt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719072"/>
            <a:ext cx="374904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開啟新對話</a:t>
            </a:r>
            <a:endParaRPr lang="en-US" sz="1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完整貼入 lesson1/預載Prompt.txt</a:t>
            </a:r>
            <a:endParaRPr lang="en-US" sz="1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觀察 AI 如何「升級」指令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40690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E"/>
            </a:solidFill>
            <a:prstDash val="solid"/>
          </a:ln>
          <a:effectLst>
            <a:outerShdw sx="100000" sy="100000" kx="0" ky="0" algn="bl" rotWithShape="0" blurRad="76200" dist="25400" dir="8100000">
              <a:srgbClr val="8896B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44952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44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33272" y="3017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Gemini Gem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3502152"/>
            <a:ext cx="374904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左側選單 → Gems → 新建 Gem</a:t>
            </a:r>
            <a:endParaRPr lang="en-US" sz="1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名稱：我的交易 AI 助理</a:t>
            </a:r>
            <a:endParaRPr lang="en-US" sz="1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說明欄貼入預載 Prompt → 儲存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880360"/>
            <a:ext cx="40690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E"/>
            </a:solidFill>
            <a:prstDash val="solid"/>
          </a:ln>
          <a:effectLst>
            <a:outerShdw sx="100000" sy="100000" kx="0" ky="0" algn="bl" rotWithShape="0" blurRad="76200" dist="25400" dir="8100000">
              <a:srgbClr val="8896B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3044952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044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22392" y="3017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問出第一個有意義的問題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3502152"/>
            <a:ext cx="374904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Gem 開啟新對話</a:t>
            </a:r>
            <a:endParaRPr lang="en-US" sz="1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問一個交易相關問題</a:t>
            </a:r>
            <a:endParaRPr lang="en-US" sz="1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截圖留存，稍後存入 Github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B5BAD"/>
          </a:solidFill>
          <a:ln w="12700">
            <a:solidFill>
              <a:srgbClr val="3B5B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Github 申辦  ·  01:15 — 01:45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3657600"/>
          </a:xfrm>
          <a:prstGeom prst="rect">
            <a:avLst/>
          </a:prstGeom>
          <a:solidFill>
            <a:srgbClr val="1B2550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89888" y="1261872"/>
            <a:ext cx="603504" cy="603504"/>
          </a:xfrm>
          <a:prstGeom prst="ellipse">
            <a:avLst/>
          </a:prstGeom>
          <a:solidFill>
            <a:srgbClr val="3B5BAD"/>
          </a:solidFill>
          <a:ln w="12700">
            <a:solidFill>
              <a:srgbClr val="3B5B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89888" y="126187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19933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申辦 Github 帳號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2103120" cy="0"/>
          </a:xfrm>
          <a:prstGeom prst="line">
            <a:avLst/>
          </a:prstGeom>
          <a:noFill/>
          <a:ln w="10160">
            <a:solidFill>
              <a:srgbClr val="2E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33472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前往 github.com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右上角 Sign up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使用個人常用 email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免費帳號直接申辦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18688" y="1097280"/>
            <a:ext cx="2651760" cy="3657600"/>
          </a:xfrm>
          <a:prstGeom prst="rect">
            <a:avLst/>
          </a:prstGeom>
          <a:solidFill>
            <a:srgbClr val="1B2550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42816" y="1261872"/>
            <a:ext cx="603504" cy="603504"/>
          </a:xfrm>
          <a:prstGeom prst="ellipse">
            <a:avLst/>
          </a:prstGeom>
          <a:solidFill>
            <a:srgbClr val="3B5BAD"/>
          </a:solidFill>
          <a:ln w="12700">
            <a:solidFill>
              <a:srgbClr val="3B5B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42816" y="126187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55848" y="19933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ai-trading-journal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93008" y="2514600"/>
            <a:ext cx="2103120" cy="0"/>
          </a:xfrm>
          <a:prstGeom prst="line">
            <a:avLst/>
          </a:prstGeom>
          <a:noFill/>
          <a:ln w="10160">
            <a:solidFill>
              <a:srgbClr val="2E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1568" y="2633472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→ New repository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ai-trading-journal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 Public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勾選 Add a README file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71616" y="1097280"/>
            <a:ext cx="2651760" cy="3657600"/>
          </a:xfrm>
          <a:prstGeom prst="rect">
            <a:avLst/>
          </a:prstGeom>
          <a:solidFill>
            <a:srgbClr val="1B2550"/>
          </a:solidFill>
          <a:ln w="6350">
            <a:solidFill>
              <a:srgbClr val="2E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95744" y="1261872"/>
            <a:ext cx="603504" cy="603504"/>
          </a:xfrm>
          <a:prstGeom prst="ellipse">
            <a:avLst/>
          </a:prstGeom>
          <a:solidFill>
            <a:srgbClr val="3B5BAD"/>
          </a:solidFill>
          <a:ln w="12700">
            <a:solidFill>
              <a:srgbClr val="3B5B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95744" y="126187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08776" y="19933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寫下你的交易主題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45936" y="2514600"/>
            <a:ext cx="2103120" cy="0"/>
          </a:xfrm>
          <a:prstGeom prst="line">
            <a:avLst/>
          </a:prstGeom>
          <a:noFill/>
          <a:ln w="10160">
            <a:solidFill>
              <a:srgbClr val="2E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4496" y="2633472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 README.md 編輯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貼入課程提供的範本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填入姓名與個人主題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changes 儲存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017520" y="2926080"/>
            <a:ext cx="128016" cy="0"/>
          </a:xfrm>
          <a:prstGeom prst="line">
            <a:avLst/>
          </a:prstGeom>
          <a:noFill/>
          <a:ln w="25400">
            <a:solidFill>
              <a:srgbClr val="F5C8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70448" y="2926080"/>
            <a:ext cx="128016" cy="0"/>
          </a:xfrm>
          <a:prstGeom prst="line">
            <a:avLst/>
          </a:prstGeom>
          <a:noFill/>
          <a:ln w="25400">
            <a:solidFill>
              <a:srgbClr val="F5C842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Antigravity  ·  01:45 — 02:30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023360" cy="3749040"/>
          </a:xfrm>
          <a:prstGeom prst="rect">
            <a:avLst/>
          </a:prstGeom>
          <a:solidFill>
            <a:srgbClr val="141B47"/>
          </a:solidFill>
          <a:ln w="12700">
            <a:solidFill>
              <a:srgbClr val="2E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是什麼？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你問它才回答  →  被動 AI</a:t>
            </a:r>
            <a:endParaRPr lang="en-US" sz="13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它主動幫你做事  →  AI Agent</a:t>
            </a:r>
            <a:endParaRPr lang="en-US" sz="1300" dirty="0"/>
          </a:p>
          <a:p>
            <a:pPr algn="l" indent="0" marL="0">
              <a:lnSpc>
                <a:spcPct val="160000"/>
              </a:lnSpc>
              <a:buNone/>
            </a:pPr>
            <a:endParaRPr lang="en-US" sz="13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 就是讓你</a:t>
            </a:r>
            <a:endParaRPr lang="en-US" sz="13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設定「觸發條件 + 動作」</a:t>
            </a:r>
            <a:endParaRPr lang="en-US" sz="13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 AI 自動執行流程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143000"/>
            <a:ext cx="3931920" cy="804672"/>
          </a:xfrm>
          <a:prstGeom prst="roundRect">
            <a:avLst>
              <a:gd name="adj" fmla="val 9091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143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觸發條件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154533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8F0"/>
                </a:solidFill>
              </a:rPr>
              <a:t>手動 / 定時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9842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842"/>
                </a:solidFill>
              </a:rPr>
              <a:t>↓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754880" y="2377440"/>
            <a:ext cx="3931920" cy="804672"/>
          </a:xfrm>
          <a:prstGeom prst="roundRect">
            <a:avLst>
              <a:gd name="adj" fmla="val 909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377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AI 執行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277977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8F0"/>
                </a:solidFill>
              </a:rPr>
              <a:t>呼叫 Gemini Gem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32186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842"/>
                </a:solidFill>
              </a:rPr>
              <a:t>↓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754880" y="3611880"/>
            <a:ext cx="3931920" cy="804672"/>
          </a:xfrm>
          <a:prstGeom prst="roundRect">
            <a:avLst>
              <a:gd name="adj" fmla="val 9091"/>
            </a:avLst>
          </a:prstGeom>
          <a:solidFill>
            <a:srgbClr val="3B5BAD"/>
          </a:solidFill>
          <a:ln w="12700">
            <a:solidFill>
              <a:srgbClr val="3B5B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611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輸出結果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54880" y="40142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8F0"/>
                </a:solidFill>
              </a:rPr>
              <a:t>顯示 / 存檔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4572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5042"/>
                </a:solidFill>
              </a:rPr>
              <a:t>今天目標：手動觸發 → 呼叫 Gemini → 看到結果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D4C9F"/>
          </a:solidFill>
          <a:ln w="12700">
            <a:solidFill>
              <a:srgbClr val="6D4C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個人主題定題  ·  02:30 — 03:00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C8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你想讓 AI 幫你在交易上做什麼事？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691640"/>
            <a:ext cx="2651760" cy="2286000"/>
          </a:xfrm>
          <a:prstGeom prst="rect">
            <a:avLst/>
          </a:prstGeom>
          <a:solidFill>
            <a:srgbClr val="1B2550"/>
          </a:solidFill>
          <a:ln w="10160">
            <a:solidFill>
              <a:srgbClr val="6D4C9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691640"/>
            <a:ext cx="2651760" cy="64008"/>
          </a:xfrm>
          <a:prstGeom prst="rect">
            <a:avLst/>
          </a:prstGeom>
          <a:solidFill>
            <a:srgbClr val="6D4C9F"/>
          </a:solidFill>
          <a:ln w="12700">
            <a:solidFill>
              <a:srgbClr val="6D4C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每日盤前摘要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每天早上自動問 Gemini</a:t>
            </a:r>
            <a:endParaRPr lang="en-US" sz="1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當日台指期重要觀察點</a:t>
            </a:r>
            <a:endParaRPr lang="en-US" sz="1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收到摘要再開始看盤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72968" y="1691640"/>
            <a:ext cx="2651760" cy="2286000"/>
          </a:xfrm>
          <a:prstGeom prst="rect">
            <a:avLst/>
          </a:prstGeom>
          <a:solidFill>
            <a:srgbClr val="1B2550"/>
          </a:solidFill>
          <a:ln w="10160">
            <a:solidFill>
              <a:srgbClr val="6D4C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72968" y="1691640"/>
            <a:ext cx="2651760" cy="64008"/>
          </a:xfrm>
          <a:prstGeom prst="rect">
            <a:avLst/>
          </a:prstGeom>
          <a:solidFill>
            <a:srgbClr val="6D4C9F"/>
          </a:solidFill>
          <a:ln w="12700">
            <a:solidFill>
              <a:srgbClr val="6D4C9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82880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進出場方向建議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10128" y="233172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根據新聞或技術面</a:t>
            </a:r>
            <a:endParaRPr lang="en-US" sz="1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 AI 給出多空方向建議</a:t>
            </a:r>
            <a:endParaRPr lang="en-US" sz="1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自己再做最終判斷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25896" y="1691640"/>
            <a:ext cx="2651760" cy="2286000"/>
          </a:xfrm>
          <a:prstGeom prst="rect">
            <a:avLst/>
          </a:prstGeom>
          <a:solidFill>
            <a:srgbClr val="1B2550"/>
          </a:solidFill>
          <a:ln w="10160">
            <a:solidFill>
              <a:srgbClr val="6D4C9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25896" y="1691640"/>
            <a:ext cx="2651760" cy="64008"/>
          </a:xfrm>
          <a:prstGeom prst="rect">
            <a:avLst/>
          </a:prstGeom>
          <a:solidFill>
            <a:srgbClr val="6D4C9F"/>
          </a:solidFill>
          <a:ln w="12700">
            <a:solidFill>
              <a:srgbClr val="6D4C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63056" y="182880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交易後自動紀錄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63056" y="233172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每筆交易結束後</a:t>
            </a:r>
            <a:endParaRPr lang="en-US" sz="1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 AI 幫你整理紀錄</a:t>
            </a:r>
            <a:endParaRPr lang="en-US" sz="12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並分析這筆交易的決策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4160520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6D4C9F">
              <a:alpha val="80000"/>
            </a:srgbClr>
          </a:solidFill>
          <a:ln w="10160">
            <a:solidFill>
              <a:srgbClr val="6D4C9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160520"/>
            <a:ext cx="8503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現在：寫一句話說明你的主題，填入 Github README.md 的「我的 AI 交易主題」欄位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C8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課堂結束前確認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00584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Gem「我的交易 AI 助理」可以正常對話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801368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01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755648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ai-trading-journal 已建立並有內容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551176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51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505456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 AI 交易主題已寫入 README.md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310128"/>
            <a:ext cx="8229600" cy="0"/>
          </a:xfrm>
          <a:prstGeom prst="line">
            <a:avLst/>
          </a:prstGeom>
          <a:noFill/>
          <a:ln w="10160">
            <a:solidFill>
              <a:srgbClr val="2E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564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第二堂預告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38587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Gem 進階 Prompt 設計  ·  Antigravity 每日自動化流程  ·  個人工具實作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370832"/>
            <a:ext cx="5029200" cy="457200"/>
          </a:xfrm>
          <a:prstGeom prst="roundRect">
            <a:avLst>
              <a:gd name="adj" fmla="val 12000"/>
            </a:avLst>
          </a:prstGeom>
          <a:solidFill>
            <a:srgbClr val="2E3A5C"/>
          </a:solidFill>
          <a:ln w="12700">
            <a:solidFill>
              <a:srgbClr val="2E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37083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課程資料：github.com/csdm67931/ai-trading-course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輔助交易工具課程 — 第一堂課</dc:title>
  <dc:subject>PptxGenJS Presentation</dc:subject>
  <dc:creator>PptxGenJS</dc:creator>
  <cp:lastModifiedBy>PptxGenJS</cp:lastModifiedBy>
  <cp:revision>1</cp:revision>
  <dcterms:created xsi:type="dcterms:W3CDTF">2026-03-14T19:24:59Z</dcterms:created>
  <dcterms:modified xsi:type="dcterms:W3CDTF">2026-03-14T19:24:59Z</dcterms:modified>
</cp:coreProperties>
</file>